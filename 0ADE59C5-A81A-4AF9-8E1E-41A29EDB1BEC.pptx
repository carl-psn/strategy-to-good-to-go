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+mn-lt"/>
              </a:rPr>
              <a:t>Monthly price per plan, € excl. VAT (light = solo, dark = teams)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C9C4F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6B-4987-81BB-836B2E6B8B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66B-4987-81BB-836B2E6B8BC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66B-4987-81BB-836B2E6B8BC8}"/>
              </c:ext>
            </c:extLst>
          </c:dPt>
          <c:dPt>
            <c:idx val="3"/>
            <c:invertIfNegative val="0"/>
            <c:bubble3D val="0"/>
            <c:spPr>
              <a:solidFill>
                <a:srgbClr val="5B4F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6B-4987-81BB-836B2E6B8BC8}"/>
              </c:ext>
            </c:extLst>
          </c:dPt>
          <c:dPt>
            <c:idx val="4"/>
            <c:invertIfNegative val="0"/>
            <c:bubble3D val="0"/>
            <c:spPr>
              <a:solidFill>
                <a:srgbClr val="5B4F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6B-4987-81BB-836B2E6B8BC8}"/>
              </c:ext>
            </c:extLst>
          </c:dPt>
          <c:dPt>
            <c:idx val="5"/>
            <c:invertIfNegative val="0"/>
            <c:bubble3D val="0"/>
            <c:spPr>
              <a:solidFill>
                <a:srgbClr val="5B4F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66B-4987-81BB-836B2E6B8BC8}"/>
              </c:ext>
            </c:extLst>
          </c:dPt>
          <c:dLbls>
            <c:numFmt formatCode="\€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8EAF4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Basic</c:v>
                </c:pt>
                <c:pt idx="1">
                  <c:v>Smart</c:v>
                </c:pt>
                <c:pt idx="2">
                  <c:v>Premium</c:v>
                </c:pt>
                <c:pt idx="3">
                  <c:v>Essential</c:v>
                </c:pt>
                <c:pt idx="4">
                  <c:v>Business</c:v>
                </c:pt>
                <c:pt idx="5">
                  <c:v>Enterprise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19</c:v>
                </c:pt>
                <c:pt idx="2">
                  <c:v>39</c:v>
                </c:pt>
                <c:pt idx="3">
                  <c:v>49</c:v>
                </c:pt>
                <c:pt idx="4">
                  <c:v>109</c:v>
                </c:pt>
                <c:pt idx="5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66B-4987-81BB-836B2E6B8B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3C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FFFFFF"/>
                </a:solidFill>
                <a:latin typeface="+mn-lt"/>
              </a:rPr>
              <a:t>Net banking income (€M)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Fees &amp; subscriptions</c:v>
                </c:pt>
              </c:strCache>
            </c:strRef>
          </c:tx>
          <c:spPr>
            <a:solidFill>
              <a:srgbClr val="5B4FE8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260.3</c:v>
                </c:pt>
                <c:pt idx="1">
                  <c:v>317.60000000000002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7A-4ECA-99BA-94CB1ED529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Deposit income</c:v>
                </c:pt>
              </c:strCache>
            </c:strRef>
          </c:tx>
          <c:spPr>
            <a:solidFill>
              <a:srgbClr val="C9CCE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188.4</c:v>
                </c:pt>
                <c:pt idx="1">
                  <c:v>177.8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7A-4ECA-99BA-94CB1ED5295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EB3C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AF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33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Qonto is the French online bank for freelancers and SMEs. Our question: how can it return to profitable growth now that falling rates reduce its interest income?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by the course. Complete with the group's real prompts, own contributions and time spent.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Founded 2016 by Alexandre Prot and Steve Anavi. 750,000 clients, 8 countries. Revenue growth slowed from +44% to +10% while net income fell 36%.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group the assignment into one causal question, then give the answer up front. The rest of the deck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market, multi-domestic: rules, tax and language differ by country. Banks hold credit; low-cost players attack on price. Consolidation is under way: Shine sold to Ageras in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factors dominate: interest rates (they drive revenue) and regulation (barrier to entry but costly). The ECB deposit rate halved from 4% to 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rivalry on entry plans (€9-10/month). Switching costs protect Qonto with larger SMEs, not with freelancers. Without a licence, Qonto leaves credit, the most profitable product, to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map, group assessment. Qonto today: more tools than low-cost neobanks, cheaper and simpler than banks, but no credit. With a licence it can move up to full services while keeping a digital price. Generic strategy: differentiation focused on small European companies; risk of being stuck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proposition per segment. Monthly prices excl. VAT, annual billing. The price ladder shows the upmarket logic: an SME on Enterprise pays 22x a freelancer on Basic.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 banking income = fees (subscriptions, services) + income from placing client deposits. Deposit income = PNB minus fees (our calculation). It fell 5% while deposits grew 20%: rates halved and, since Sept 2025, Qonto pays 1-2% interest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Qonto does not publish its cost breakdown. Costs + tax = PNB minus net income: €304M in 2024, €403M in 2025 (+32%). Headcount was nearly stable (1,600 to 1,700), so the rise comes from acquisitions, expansion marketing, compliance and tax. Staff cost is a group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Porter's value chain applied to a digital bank. Primary activities left to right; support activities below. The core differentiation sits in management tools and service, but a large share of revenue comes from deposits, which give no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 and W are internal to Qonto; O and T apply to the whole industry. Each quadrant feeds the TOWS options on the next line and the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factors that decide who wins in SME banking, rated for Qonto, Revolut Business and traditional banks. Group assessment based on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VRIO (Barney): Valuable, Rare, hard to Imitate, Organised. Client cash-flow data and the accountant network pass V, R, I but are not yet fully exploited: that is where the recommendations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answers one problem identified in the analysis, as the assignment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and R3 can start now; R1 depends on the banking licence (applied for in 2025, still pending in Sept 2026). The September 2027 deadline for SMEs makes R2 urgent. KPIs make each recommendation measurable.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 the deck come from these public sources. Calculations (deposit income, costs + tax, margins, per-client figures) are ours and labelled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73152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86200"/>
            <a:ext cx="73152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3" name="Image 0" descr="/tmp/work/qonto/assets/he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"/>
            <a:ext cx="1325880" cy="649224"/>
          </a:xfrm>
          <a:prstGeom prst="rect">
            <a:avLst/>
          </a:prstGeom>
        </p:spPr>
      </p:pic>
      <p:pic>
        <p:nvPicPr>
          <p:cNvPr id="4" name="Image 1" descr="/tmp/work/qonto/assets/qont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548640"/>
            <a:ext cx="1188720" cy="3520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· Qonto strategic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Qonto: from business account to SME financial copilot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8620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· Strategy (GEM1STR001) · Prof. Bertrand Quélin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Paris · October 2026</a:t>
            </a:r>
            <a:endParaRPr lang="en-US" sz="17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B3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11</a:t>
            </a:r>
            <a:endParaRPr lang="en-US" sz="17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WU · Carl PETERSEN · Emile MASSON · Maxime MERINO ROMERO · Marwane KHOUTAMI</a:t>
            </a:r>
            <a:endParaRPr lang="en-US" sz="1700" dirty="0"/>
          </a:p>
        </p:txBody>
      </p:sp>
      <p:pic>
        <p:nvPicPr>
          <p:cNvPr id="4" name="Image 0" descr="HEC Par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108960" cy="1522756"/>
          </a:xfrm>
          <a:prstGeom prst="rect">
            <a:avLst/>
          </a:prstGeom>
        </p:spPr>
      </p:pic>
      <p:pic>
        <p:nvPicPr>
          <p:cNvPr id="5" name="Image 1" descr="Qonto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3703320"/>
            <a:ext cx="2286000" cy="6776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disclosure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used: yes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01952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support: collecting public sources on Qonto and competitors (all sources cited).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the analysis with the course method and laying out the slides.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the group: figures against sources, calculations, recommendations.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731520" y="3858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7939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last slide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37033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3520440" y="3858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Time spent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427939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[ 10h ]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[ 10h]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[ 9h 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1325880"/>
            <a:ext cx="5468112" cy="4663440"/>
          </a:xfrm>
          <a:prstGeom prst="roundRect">
            <a:avLst>
              <a:gd name="adj" fmla="val 19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6355080" y="148132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Examples of prompts used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1901952"/>
            <a:ext cx="5102352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We calculated from </a:t>
            </a:r>
            <a:r>
              <a:rPr lang="en-US" sz="1300" i="1" dirty="0" err="1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Qonto’s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results that net income dropped 36% while costs grew 32% (scissor effect), with 36% of revenue tied to ECB deposit rates. How does this rate sensitivity threaten its valuation, and what business model shift is needed? “</a:t>
            </a:r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challenge our VRIO and 5-Forces matrices: why does Revolut’s full banking </a:t>
            </a:r>
            <a:r>
              <a:rPr lang="en-US" sz="1300" i="1" dirty="0" err="1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</a:t>
            </a:r>
            <a:r>
              <a:rPr lang="en-US" sz="1300" i="1" dirty="0" err="1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Qonto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"stuck in the middle" risk between low-cost neobanks and incumbents, and why is </a:t>
            </a:r>
            <a:r>
              <a:rPr lang="en-US" sz="1300" i="1" dirty="0" err="1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Qonto’s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cash-flow data still an unexploited VRIO asset? ”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300" b="1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3 strategic moves: SME credit pilot via cash-flow data (R1), monetizing mandatory e-invoicing as an admin autopilot (R2), and prioritizing accountants over new country launches (R3). Critique the operational risks and trade-offs of this roadmap. “</a:t>
            </a:r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Qonto is profitable, but its profit fell 36% in 2025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750k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clients (Sept 2026)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55848" y="132588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€495M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3538728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income 2025 (+10%)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63056" y="132588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€92.8M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345936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2025 (–36%)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70264" y="132588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€9.7bn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9153144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deposits (end 2025)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160520"/>
            <a:ext cx="10698480" cy="0"/>
          </a:xfrm>
          <a:prstGeom prst="line">
            <a:avLst/>
          </a:prstGeom>
          <a:noFill/>
          <a:ln w="19050">
            <a:solidFill>
              <a:srgbClr val="C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104241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41148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France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68833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20574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01168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payment institution licence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3425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370332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€486M raised, €4.4bn valuation; buys Penta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8017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 txBox="1"/>
          <p:nvPr/>
        </p:nvSpPr>
        <p:spPr>
          <a:xfrm>
            <a:off x="534924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profitable year (€71M)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62609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 txBox="1"/>
          <p:nvPr/>
        </p:nvSpPr>
        <p:spPr>
          <a:xfrm>
            <a:off x="699516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Regate; 4 new countries; Italy onboarding ban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27201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 txBox="1"/>
          <p:nvPr/>
        </p:nvSpPr>
        <p:spPr>
          <a:xfrm>
            <a:off x="864108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for banking licence; pays interest on accounts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917936" y="4059936"/>
            <a:ext cx="201168" cy="201168"/>
          </a:xfrm>
          <a:prstGeom prst="ellipse">
            <a:avLst/>
          </a:prstGeom>
          <a:solidFill>
            <a:srgbClr val="5B4F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 txBox="1"/>
          <p:nvPr/>
        </p:nvSpPr>
        <p:spPr>
          <a:xfrm>
            <a:off x="102870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4389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platform; buys Acasi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Bourse des crédits (2025 results), mind Fintech (2024 results), Renseignement Économique (Sept 2026), TechCrunch (July 2025).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question: how to grow profitably when rates no longer pay?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Qonto return to profitable growth while falling interest rates shrink its deposit income and competition (Revolut, banks) intensifies?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3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</a:t>
            </a:r>
            <a:r>
              <a:rPr lang="en-US" sz="16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“account + deposit income” to an SME financial copilot that earns from the services companies use every day, not from interest rates.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749808" y="3721608"/>
            <a:ext cx="566928" cy="566928"/>
          </a:xfrm>
          <a:prstGeom prst="ellipse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749808" y="372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43484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 to SMEs using their cash-flow data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54406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revenue tied to rates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06824" y="35204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507992" y="3721608"/>
            <a:ext cx="566928" cy="566928"/>
          </a:xfrm>
          <a:prstGeom prst="ellipse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4507992" y="372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07992" y="443484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mandatory e-invoicing into an autopilot for SME admin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07992" y="54406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slowing growth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65008" y="35204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8266176" y="3721608"/>
            <a:ext cx="566928" cy="566928"/>
          </a:xfrm>
          <a:prstGeom prst="ellipse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8266176" y="372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66176" y="443484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profitably: accountants as a channel, 3 priority countries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66176" y="54406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costs growing faster than revenue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Industry: a multi-domestic market squeezed from both sides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type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01952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freelancers, small firms, SMEs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Multi-domestic: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tax, language differ by country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566160" cy="2697480"/>
          </a:xfrm>
          <a:prstGeom prst="roundRect">
            <a:avLst>
              <a:gd name="adj" fmla="val 339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73152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67912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17.4M SMEs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Qonto's 8 markets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€52bn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 (Contrary Research)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concentrated, neobanks fragmented and consolidating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325880"/>
          <a:ext cx="7296912" cy="4480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 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767,000 business clients end 2025 (+33%); banking licence in 30+ countries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Scale, price, international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local fit (VAT, e-invoicing)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banks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BNP Paribas, Crédit Agricole, Société Générale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Credit, trust, branches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Expensive, slow, weak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neobanks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Shine (sold to Ageras 2025), Finom, Blank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Size, profitability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Pennylane, Ageras add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Bookkeeping, invoices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 on partner banks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Revolut 2025 annual results (March 2026); FinTech Futures; Contrary Research.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PESTLE: rates down, e-invoicing up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Strategy, HEC Paris 2026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5354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see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for French Tech; EU push for payment sovereignty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 deposit rate cut from 4% (2023–24) to 2% (June 2025): deposits earn half as much. Fewer company creations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Entrepreneurs want everything in one app, no branch, no adviser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automates bookkeeping and support; features are copied fast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E-invoicing mandatory: receiving Sept 2026, issuing for SMEs Sept 2027. Tighter AML (Italy ban 2024). Licence needed to lend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 expectations on banks; low impact on core 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Regulators (ACPR, Bank of Italy), tax authority (DGFiP), investors, accountants, partner banks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favourable · – unfavourable · ± both. Sources: Bloomberg (ECB, June 2025); MoneyVox (Jan 2026); FinTech Futures (Aug 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forces: rivalry and substitutes squeeze profitability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160520" y="13258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4325112" y="1435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entrants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22008" y="147218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6922008" y="147218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325112" y="1874520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and compliance are costly, but licensed players (Revolut) enter fast.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60520" y="288036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5B4FE8">
              <a:alpha val="7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4325112" y="2990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Rivalry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22008" y="302666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6922008" y="302666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325112" y="342900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neobanks and Revolut target the same SMEs; price war on entry plans (€9–10/month).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60520" y="46177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 txBox="1"/>
          <p:nvPr/>
        </p:nvSpPr>
        <p:spPr>
          <a:xfrm>
            <a:off x="4325112" y="4727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22008" y="476402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6922008" y="47640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325112" y="5166360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 of incumbents; management software adding payments.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13258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713232" y="1435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852928" y="147218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 txBox="1"/>
          <p:nvPr/>
        </p:nvSpPr>
        <p:spPr>
          <a:xfrm>
            <a:off x="2852928" y="147218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187452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networks (Mastercard), partner banks, tech providers. Qonto processes cards in-house to reduce their power.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57032" y="13258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 txBox="1"/>
          <p:nvPr/>
        </p:nvSpPr>
        <p:spPr>
          <a:xfrm>
            <a:off x="8421624" y="1435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0561320" y="147218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 txBox="1"/>
          <p:nvPr/>
        </p:nvSpPr>
        <p:spPr>
          <a:xfrm>
            <a:off x="10561320" y="147218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421624" y="187452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switch easily. SMEs much less: cards, recurring transfers, accountant, integrations = high switching costs.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46177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 txBox="1"/>
          <p:nvPr/>
        </p:nvSpPr>
        <p:spPr>
          <a:xfrm>
            <a:off x="713232" y="4727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Complementors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" y="516636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Accountants, accounting and payroll software, lending partners.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57032" y="46177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 txBox="1"/>
          <p:nvPr/>
        </p:nvSpPr>
        <p:spPr>
          <a:xfrm>
            <a:off x="8421624" y="4727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captures value?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421624" y="516636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licence, credit margins go to banks and partners.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959352" y="3657600"/>
            <a:ext cx="182880" cy="0"/>
          </a:xfrm>
          <a:prstGeom prst="line">
            <a:avLst/>
          </a:prstGeom>
          <a:noFill/>
          <a:ln w="19050">
            <a:solidFill>
              <a:srgbClr val="AEB3C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 flipH="1">
            <a:off x="8019288" y="3657600"/>
            <a:ext cx="219456" cy="0"/>
          </a:xfrm>
          <a:prstGeom prst="line">
            <a:avLst/>
          </a:prstGeom>
          <a:noFill/>
          <a:ln w="19050">
            <a:solidFill>
              <a:srgbClr val="AEB3C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6080760" y="2715768"/>
            <a:ext cx="0" cy="146304"/>
          </a:xfrm>
          <a:prstGeom prst="line">
            <a:avLst/>
          </a:prstGeom>
          <a:noFill/>
          <a:ln w="19050">
            <a:solidFill>
              <a:srgbClr val="AEB3C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 flipV="1">
            <a:off x="6080760" y="4453128"/>
            <a:ext cx="0" cy="146304"/>
          </a:xfrm>
          <a:prstGeom prst="line">
            <a:avLst/>
          </a:prstGeom>
          <a:noFill/>
          <a:ln w="19050">
            <a:solidFill>
              <a:srgbClr val="AEB3C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Qonto can take the empty spot, full services at a digital price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261872" y="1463040"/>
            <a:ext cx="3054096" cy="2107692"/>
          </a:xfrm>
          <a:prstGeom prst="rect">
            <a:avLst/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1417320" y="31775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3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spot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188720" y="5852160"/>
            <a:ext cx="6400800" cy="0"/>
          </a:xfrm>
          <a:prstGeom prst="line">
            <a:avLst/>
          </a:prstGeom>
          <a:noFill/>
          <a:ln w="19050">
            <a:solidFill>
              <a:srgbClr val="C9CCE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 flipV="1">
            <a:off x="1188720" y="1417320"/>
            <a:ext cx="0" cy="4434840"/>
          </a:xfrm>
          <a:prstGeom prst="line">
            <a:avLst/>
          </a:prstGeom>
          <a:noFill/>
          <a:ln w="19050">
            <a:solidFill>
              <a:srgbClr val="C9CCE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389120" y="1417320"/>
            <a:ext cx="0" cy="4434840"/>
          </a:xfrm>
          <a:prstGeom prst="line">
            <a:avLst/>
          </a:prstGeom>
          <a:noFill/>
          <a:ln w="12700">
            <a:solidFill>
              <a:srgbClr val="4A528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1188720" y="3634740"/>
            <a:ext cx="6400800" cy="0"/>
          </a:xfrm>
          <a:prstGeom prst="line">
            <a:avLst/>
          </a:prstGeom>
          <a:noFill/>
          <a:ln w="12700">
            <a:solidFill>
              <a:srgbClr val="4A528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4846320" y="5925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 the client →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82880" y="13258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services 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(account → tools → credit)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719072" y="5102352"/>
            <a:ext cx="219456" cy="219456"/>
          </a:xfrm>
          <a:prstGeom prst="ellipse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2011680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Shine, Finom, Blank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price, basic account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999232" y="3867912"/>
            <a:ext cx="219456" cy="219456"/>
          </a:xfrm>
          <a:prstGeom prst="ellipse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329184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 Business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price, broad features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82512" y="1947672"/>
            <a:ext cx="219456" cy="219456"/>
          </a:xfrm>
          <a:prstGeom prst="ellipse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66751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banks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credit, heavy tools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3108960"/>
            <a:ext cx="274320" cy="274320"/>
          </a:xfrm>
          <a:prstGeom prst="ellipse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 txBox="1"/>
          <p:nvPr/>
        </p:nvSpPr>
        <p:spPr>
          <a:xfrm>
            <a:off x="50749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Qonto today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07492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tools, no credit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606040" y="1810512"/>
            <a:ext cx="292608" cy="292608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ADF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 txBox="1"/>
          <p:nvPr/>
        </p:nvSpPr>
        <p:spPr>
          <a:xfrm>
            <a:off x="297180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3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Qonto target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 flipH="1" flipV="1">
            <a:off x="2926080" y="2103120"/>
            <a:ext cx="1828800" cy="1005840"/>
          </a:xfrm>
          <a:prstGeom prst="line">
            <a:avLst/>
          </a:prstGeom>
          <a:noFill/>
          <a:ln w="25400">
            <a:solidFill>
              <a:srgbClr val="5B4FE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8092440" y="1325880"/>
            <a:ext cx="3547872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 txBox="1"/>
          <p:nvPr/>
        </p:nvSpPr>
        <p:spPr>
          <a:xfrm>
            <a:off x="8275320" y="148132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statement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1901952"/>
            <a:ext cx="3182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business account + management tools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whom: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freelancers, small firms, SMEs, their accountants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admin time, steer cash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092440" y="379476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 txBox="1"/>
          <p:nvPr/>
        </p:nvSpPr>
        <p:spPr>
          <a:xfrm>
            <a:off x="8275320" y="395020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strategy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370832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differentiation: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76 vs low-cost peers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“stuck in the middle”, pricier than Shine, no credit like banks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positions, group assessment. Prices: Milesopedia (Oct 2026), Invesse (2026).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 saving admin time, priced from €9 to €199 a month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120640" cy="1069848"/>
          </a:xfrm>
          <a:prstGeom prst="roundRect">
            <a:avLst>
              <a:gd name="adj" fmla="val 8547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81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creators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account and deposit capital online, fast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5120640" cy="1069848"/>
          </a:xfrm>
          <a:prstGeom prst="roundRect">
            <a:avLst>
              <a:gd name="adj" fmla="val 854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731520" y="2660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083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account, an app, responsive support (NPS 76)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685032"/>
            <a:ext cx="5120640" cy="1069848"/>
          </a:xfrm>
          <a:prstGeom prst="roundRect">
            <a:avLst>
              <a:gd name="adj" fmla="val 8547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731520" y="3840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 &amp; SMEs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per employee, expenses, invoices, bookkeeping in one place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864608"/>
            <a:ext cx="5120640" cy="1069848"/>
          </a:xfrm>
          <a:prstGeom prst="roundRect">
            <a:avLst>
              <a:gd name="adj" fmla="val 854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731520" y="50200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67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access to client data (Regate, Acasi)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43600" y="1325880"/>
          <a:ext cx="5696712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Milesopedia, Qonto pricing 2026 (updated Oct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fees grow, but 36% still depends on interest rates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·  Strategy, HEC Paris 2026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25880"/>
          <a:ext cx="51206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696712" cy="31821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stream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plans, higher with size and options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cards (€5–20/month), FX payments (0.56–2%), extra transfers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fee paid by merchants on each card payment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€9.7bn placed; net yield ≈ 2.6% → 2.0% (calc.)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Later, partner loan commissions; small today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943600" y="4663440"/>
            <a:ext cx="5696712" cy="1325880"/>
          </a:xfrm>
          <a:prstGeom prst="roundRect">
            <a:avLst>
              <a:gd name="adj" fmla="val 6897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3"/>
          <p:cNvSpPr txBox="1"/>
          <p:nvPr/>
        </p:nvSpPr>
        <p:spPr>
          <a:xfrm>
            <a:off x="6126480" y="4818888"/>
            <a:ext cx="5330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 ≈ €700 a year, </a:t>
            </a: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≈ €250 from interest (calc. on ~700k clients). When rates fall, this part melts and Qonto cannot act on it.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Bourse des crédits (2025), mind Fintech (2024), MoneyVox (Sept 2025), Milesopedia (2026). Deposit income = PNB – fees.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structure: costs grew 3x faster than revenue in 2025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·  Strategy, HEC Paris 2026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2025 vs 2024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06240" y="1828800"/>
            <a:ext cx="0" cy="4023360"/>
          </a:xfrm>
          <a:prstGeom prst="line">
            <a:avLst/>
          </a:prstGeom>
          <a:noFill/>
          <a:ln w="12700">
            <a:solidFill>
              <a:srgbClr val="C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income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06240" y="2011680"/>
            <a:ext cx="380390" cy="411480"/>
          </a:xfrm>
          <a:prstGeom prst="rect">
            <a:avLst/>
          </a:prstGeom>
          <a:solidFill>
            <a:srgbClr val="8C83F2"/>
          </a:solidFill>
          <a:ln w="12700">
            <a:solidFill>
              <a:srgbClr val="8C83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4641494" y="1965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8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+10.4%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2788920"/>
            <a:ext cx="804672" cy="411480"/>
          </a:xfrm>
          <a:prstGeom prst="rect">
            <a:avLst/>
          </a:prstGeom>
          <a:solidFill>
            <a:srgbClr val="8C83F2"/>
          </a:solidFill>
          <a:ln w="12700">
            <a:solidFill>
              <a:srgbClr val="8C83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065776" y="2743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8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+22.0%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520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income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01414" y="3566160"/>
            <a:ext cx="204826" cy="411480"/>
          </a:xfrm>
          <a:prstGeom prst="rect">
            <a:avLst/>
          </a:prstGeom>
          <a:solidFill>
            <a:srgbClr val="9AA0AC"/>
          </a:solidFill>
          <a:ln w="12700">
            <a:solidFill>
              <a:srgbClr val="9AA0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3215030" y="3520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EB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-5.6%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97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+ tax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06240" y="4343400"/>
            <a:ext cx="1181405" cy="411480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5442509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+32.3%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074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900477" y="5120640"/>
            <a:ext cx="1305763" cy="411480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2114093" y="5074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-35.7%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25880"/>
          <a:ext cx="5422392" cy="396849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/ variable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(≈1,700, 40% product &amp; tech)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item; est. ≈ €145M (group hypothesis)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acquisition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 with each new 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licence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Fixed, rising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application, Italy remediation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&amp;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by in-house card 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handles &gt;50% of chats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6217920" y="5440680"/>
            <a:ext cx="5422392" cy="548640"/>
          </a:xfrm>
          <a:prstGeom prst="roundRect">
            <a:avLst>
              <a:gd name="adj" fmla="val 16667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 txBox="1"/>
          <p:nvPr/>
        </p:nvSpPr>
        <p:spPr>
          <a:xfrm>
            <a:off x="6400800" y="5596128"/>
            <a:ext cx="5056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 effect: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fell from 32% to 19%.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Bourse des crédits (2025), mind Fintech (2024), Contrary Research. Costs + tax = PNB – net income (calc.).</a:t>
            </a:r>
            <a:endParaRPr lang="en-US" sz="10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chain: value is created in tools, money still comes from deposits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240280" cy="914400"/>
          </a:xfrm>
          <a:prstGeom prst="homePlate">
            <a:avLst/>
          </a:prstGeom>
          <a:solidFill>
            <a:srgbClr val="232A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referrals, accountants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61488" y="1463040"/>
            <a:ext cx="2240280" cy="914400"/>
          </a:xfrm>
          <a:prstGeom prst="chevron">
            <a:avLst/>
          </a:prstGeom>
          <a:solidFill>
            <a:srgbClr val="232A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3145536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898648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online, minutes; must stay compliant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74336" y="1463040"/>
            <a:ext cx="2240280" cy="914400"/>
          </a:xfrm>
          <a:prstGeom prst="chevron">
            <a:avLst/>
          </a:prstGeom>
          <a:solidFill>
            <a:srgbClr val="232A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358384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cards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111496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card processing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187184" y="1463040"/>
            <a:ext cx="2240280" cy="914400"/>
          </a:xfrm>
          <a:prstGeom prst="chevron">
            <a:avLst/>
          </a:prstGeom>
          <a:solidFill>
            <a:srgbClr val="5B4F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7571232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24344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invoices, e-invoicing, bookkeeping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400032" y="1463040"/>
            <a:ext cx="2240280" cy="914400"/>
          </a:xfrm>
          <a:prstGeom prst="chevron">
            <a:avLst/>
          </a:prstGeom>
          <a:solidFill>
            <a:srgbClr val="232A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978408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537192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support + AI, NPS 76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520440"/>
            <a:ext cx="3575304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68580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≈40% of staff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306824" y="3520440"/>
            <a:ext cx="3575304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 txBox="1"/>
          <p:nvPr/>
        </p:nvSpPr>
        <p:spPr>
          <a:xfrm>
            <a:off x="4443984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Licences, AML, €9.7bn deposits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65008" y="3520440"/>
            <a:ext cx="3575304" cy="777240"/>
          </a:xfrm>
          <a:prstGeom prst="rect">
            <a:avLst/>
          </a:prstGeom>
          <a:solidFill>
            <a:srgbClr val="FBBF24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8202168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treasury: </a:t>
            </a: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deposits: big revenue, no advantage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EB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activities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 txBox="1"/>
          <p:nvPr/>
        </p:nvSpPr>
        <p:spPr>
          <a:xfrm>
            <a:off x="731520" y="49103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257800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differentiating activity (management tools, purple) earns subscription fees, while the treasury activity earns rate-driven income without any edge. Our recommendations shift revenue toward the activities where Qonto is better than rivals.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SWOT: strong client base, revenue model exposed to rates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4ADE80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35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E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clients; NPS 76; profitable since 2023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€9.7bn deposits and cash-flow data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e-invoicing platform (220k firms)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fit: VAT, accounting, e-invoicing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6355080" y="1435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828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revenue tied to rates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banking licence, so no own credit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+32% in 2025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incident in Italy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731520" y="35387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B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31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reform 2026–2027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underserved for fast credit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 automate admin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17.4M SMEs in 8 markets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342900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6355080" y="35387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931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rate cuts (4% → 2%)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Revolut: 767k business clients, licence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modernising apps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AML rules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486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658368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e-invoicing approval to sell advanced tools → R2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55848" y="5486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3465576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deposits + flow data to lend to SMEs → R1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3056" y="5486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6272784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rate income with credit and premium plans → R1, R2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970264" y="5486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 txBox="1"/>
          <p:nvPr/>
        </p:nvSpPr>
        <p:spPr>
          <a:xfrm>
            <a:off x="9079992" y="5486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costs and compliance, fewer countries → R3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success factors: Qonto leads on tools, lags on credit and price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·  Strategy, HEC Paris 2026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success factor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Revolut Business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digital experience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Entrepreneurs manage everything from an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management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Invoices, expenses, bookkeeping save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offer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SMEs need cash and investment loans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Freelancers are very price-sensitive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and compliance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and regulators require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fit (tax, language)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differ by 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acquisition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 of a low-ARPU 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assessment based on cited sources.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VRIO: Qonto's best resources are under-exploited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 ·  Strategy, HEC Paris 2026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224528"/>
        </p:xfrm>
        <a:graphic>
          <a:graphicData uri="http://schemas.openxmlformats.org/drawingml/2006/table">
            <a:tbl>
              <a:tblPr/>
              <a:tblGrid>
                <a:gridCol w="432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750k clients and their cash-flow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Unexploited advantage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Accountant network (Regate, Acasi)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if exploited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and customer experience (NPS 76)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tools and integrations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7C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E-invoicing approval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and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EE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valuable · R = rare · I = hard to imitate · O = organised to exploit (J. Barney). 118 e-invoicing platforms are approved in France.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problems, three 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Revenue tied to rates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revenue from deposits; net income –36%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41648" y="1828800"/>
            <a:ext cx="502920" cy="411480"/>
          </a:xfrm>
          <a:prstGeom prst="rightArrow">
            <a:avLst/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6976872" cy="1417320"/>
          </a:xfrm>
          <a:prstGeom prst="roundRect">
            <a:avLst>
              <a:gd name="adj" fmla="val 516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4846320" y="1463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· Lend to SMEs using their cash-flow data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74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banking licence, offer cash and equipment loans decided in minutes from real account flows. Pilot in France, then Germany and Spain.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898648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731520" y="3035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Growth slowing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4472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+10% vs +44%; 750k vs 1M target clients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41648" y="3401568"/>
            <a:ext cx="502920" cy="411480"/>
          </a:xfrm>
          <a:prstGeom prst="rightArrow">
            <a:avLst/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663440" y="2898648"/>
            <a:ext cx="6976872" cy="1417320"/>
          </a:xfrm>
          <a:prstGeom prst="roundRect">
            <a:avLst>
              <a:gd name="adj" fmla="val 516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4846320" y="30358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· E-invoicing autopilot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4472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reads, pays and chases invoices and prepares bookkeeping. Convert the 220k registered firms, even non-clients: free receiving, paid automation, then account and Pay Later.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471416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731520" y="46085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Costs outpace revenue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0200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+ tax +32% vs revenue +10%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041648" y="4974336"/>
            <a:ext cx="502920" cy="411480"/>
          </a:xfrm>
          <a:prstGeom prst="rightArrow">
            <a:avLst/>
          </a:prstGeom>
          <a:solidFill>
            <a:srgbClr val="232A6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663440" y="4471416"/>
            <a:ext cx="6976872" cy="1417320"/>
          </a:xfrm>
          <a:prstGeom prst="roundRect">
            <a:avLst>
              <a:gd name="adj" fmla="val 5161"/>
            </a:avLst>
          </a:prstGeom>
          <a:solidFill>
            <a:srgbClr val="8C83F2">
              <a:alpha val="2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 txBox="1"/>
          <p:nvPr/>
        </p:nvSpPr>
        <p:spPr>
          <a:xfrm>
            <a:off x="4846320" y="460857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Accountants as a channel, 3 countries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502005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accounting firms per client referred (Regate). Focus France, Germany, Spain; expand AI support; no new country until compliance is solid.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act on e-invoicing before September 2027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4023360" cy="731520"/>
          </a:xfrm>
          <a:prstGeom prst="homePlate">
            <a:avLst/>
          </a:prstGeom>
          <a:solidFill>
            <a:srgbClr val="5B4F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0–12 months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+ R3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e-invoicing autopilot offer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220k registered firms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referral programme for accountants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new-country openings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80560" y="1371600"/>
            <a:ext cx="4023360" cy="731520"/>
          </a:xfrm>
          <a:prstGeom prst="chevron">
            <a:avLst/>
          </a:prstGeom>
          <a:solidFill>
            <a:srgbClr val="232A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502920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years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+ scale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331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obtained: pilot SME credit in France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credit and autopilot to Germany, Spain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plans for 10–249 employee SMEs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640080" y="4434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Sept 2027, e-invoicing mandatory for SMEs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95360" y="1371600"/>
            <a:ext cx="3044952" cy="3429000"/>
          </a:xfrm>
          <a:prstGeom prst="roundRect">
            <a:avLst>
              <a:gd name="adj" fmla="val 300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8778240" y="152704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to track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1947672"/>
            <a:ext cx="26791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 from fees and credit (target &gt; 75%)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client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per client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growth vs revenue growth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per employee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731520" y="5138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486400"/>
            <a:ext cx="10725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losses and capital needs (start small, capped amounts) · 118 approved e-invoicing platforms, Pennylane · Accountants may see Acasi as a competitor (reserve it for firms without an accountant).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8620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Qonto has won the digital business account: 750k clients, NPS 76, profitable.</a:t>
            </a:r>
            <a:endParaRPr lang="en-US" sz="17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36% of its revenue depends on rates, and costs grow faster than revenue.</a:t>
            </a:r>
            <a:endParaRPr lang="en-US" sz="1700" dirty="0"/>
          </a:p>
          <a:p>
            <a:pPr marL="203200" indent="-203200" algn="l">
              <a:buSzPct val="100000"/>
              <a:buChar char="•"/>
            </a:pPr>
            <a:r>
              <a:rPr lang="en-US" sz="1700" dirty="0">
                <a:solidFill>
                  <a:srgbClr val="D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earn from the services SMEs use daily — credit, e-invoicing autopilot, accountant channel.</a:t>
            </a:r>
            <a:endParaRPr lang="en-US" sz="1700" dirty="0"/>
          </a:p>
        </p:txBody>
      </p:sp>
      <p:pic>
        <p:nvPicPr>
          <p:cNvPr id="4" name="Image 0" descr="HEC Par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457200"/>
            <a:ext cx="1828800" cy="8957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65960" y="292608"/>
            <a:ext cx="8275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6446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·  Strategy, HEC Paris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4681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" y="148132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results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51023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Bourse des crédits (2026), “Résultats 2025 : la fintech française Qonto confirme sa rentabilité mais voit son bénéfice reculer de 36 %”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Fintech (2025), “Qonto a doublé son résultat net en 2024, à 144 millions d'euros”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(March 2026), “Revolut reports record profit of $2.3bn for 2025”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Research, “Qonto: Business Breakdown &amp; Founding Story”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681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6355080" y="148132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and news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828800"/>
            <a:ext cx="51023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Renseignement Économique (Sept 2026), “Qonto assume une croissance plus modérée et vise la montée en gamme”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(July 2025), “Qonto reaches 600,000 customers, files for banking license”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Fintech (July 2025), “Qonto a déposé une demande d'agrément bancaire”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Fintech (June 2024), “Qonto atteint le demi-million de clients en Europe”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54681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731520" y="38587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and pricing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206240"/>
            <a:ext cx="51023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MoneyVox (Sept 2025), “Qonto lance une rémunération des comptes pro jusqu'à 2 %”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MoneyVox (Jan 2026), “Qonto officiellement agréée comme plateforme de facturation électronique”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MoneyVox (July 2026), “Une expertise comptable certifiée directement dans l'app Qonto”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Milesopedia (2026), “Qonto : tarifs des comptes pros et forfaits 2026”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3703320"/>
            <a:ext cx="54681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6355080" y="38587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environment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4206240"/>
            <a:ext cx="51023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Futures (Aug 2024), “Qonto receives order from Banca d'Italia to improve AML measures”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Futures (2025), “Société Générale sells neobank Shine to Danish fintech Ageras”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(June 2025), “ECB cuts rates to 2%”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Invesse (2026), “Meilleure banque pro 2026 : comparatif complet”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DD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onto Strategy Dark">
  <a:themeElements>
    <a:clrScheme name="Qonto Strategy Dark">
      <a:dk1>
        <a:srgbClr val="0B0E20"/>
      </a:dk1>
      <a:lt1>
        <a:srgbClr val="FFFFFF"/>
      </a:lt1>
      <a:dk2>
        <a:srgbClr val="232A63"/>
      </a:dk2>
      <a:lt2>
        <a:srgbClr val="E8EAF4"/>
      </a:lt2>
      <a:accent1>
        <a:srgbClr val="5B4FE8"/>
      </a:accent1>
      <a:accent2>
        <a:srgbClr val="3B82F6"/>
      </a:accent2>
      <a:accent3>
        <a:srgbClr val="4ADE80"/>
      </a:accent3>
      <a:accent4>
        <a:srgbClr val="F87171"/>
      </a:accent4>
      <a:accent5>
        <a:srgbClr val="FBBF24"/>
      </a:accent5>
      <a:accent6>
        <a:srgbClr val="AEB3CB"/>
      </a:accent6>
      <a:hlink>
        <a:srgbClr val="B3ADFF"/>
      </a:hlink>
      <a:folHlink>
        <a:srgbClr val="B3ADFF"/>
      </a:folHlink>
    </a:clrScheme>
    <a:fontScheme name="Qonto Strategy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3464</Words>
  <Application>Microsoft Office PowerPoint</Application>
  <PresentationFormat>Grand écran</PresentationFormat>
  <Paragraphs>481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Qonto Strategy Dark</vt:lpstr>
      <vt:lpstr>Qonto: from business account to SME financial copilot</vt:lpstr>
      <vt:lpstr>AI use disclosure</vt:lpstr>
      <vt:lpstr>Qonto is profitable, but its profit fell 36% in 2025</vt:lpstr>
      <vt:lpstr>Our question: how to grow profitably when rates no longer pay?</vt:lpstr>
      <vt:lpstr>Industry: a multi-domestic market squeezed from both sides</vt:lpstr>
      <vt:lpstr>PESTLE: rates down, e-invoicing up</vt:lpstr>
      <vt:lpstr>Five forces: rivalry and substitutes squeeze profitability</vt:lpstr>
      <vt:lpstr>Positioning: Qonto can take the empty spot, full services at a digital price</vt:lpstr>
      <vt:lpstr>Value proposition: saving admin time, priced from €9 to €199 a month</vt:lpstr>
      <vt:lpstr>Revenue: fees grow, but 36% still depends on interest rates</vt:lpstr>
      <vt:lpstr>Cost structure: costs grew 3x faster than revenue in 2025</vt:lpstr>
      <vt:lpstr>Value chain: value is created in tools, money still comes from deposits</vt:lpstr>
      <vt:lpstr>SWOT: strong client base, revenue model exposed to rates</vt:lpstr>
      <vt:lpstr>Key success factors: Qonto leads on tools, lags on credit and price</vt:lpstr>
      <vt:lpstr>VRIO: Qonto's best resources are under-exploited</vt:lpstr>
      <vt:lpstr>Three problems, three recommendations</vt:lpstr>
      <vt:lpstr>Roadmap: act on e-invoicing before September 2027</vt:lpstr>
      <vt:lpstr>Conclusion</vt:lpstr>
      <vt:lpstr>Sources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Qonto - Strategic analysis - Group 11</dc:title>
  <dc:subject>PptxGenJS Presentation</dc:subject>
  <dc:creator>HEC Paris - Group 11</dc:creator>
  <cp:lastModifiedBy>maxime merino</cp:lastModifiedBy>
  <cp:revision>4</cp:revision>
  <dcterms:created xsi:type="dcterms:W3CDTF">2026-10-27T09:32:22Z</dcterms:created>
  <dcterms:modified xsi:type="dcterms:W3CDTF">2026-10-27T11:42:50Z</dcterms:modified>
</cp:coreProperties>
</file>